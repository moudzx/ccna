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0.xml" ContentType="application/vnd.openxmlformats-officedocument.presentationml.tags+xml"/>
  <Override PartName="/ppt/tags/tag17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ppt/tags/tag22.xml" ContentType="application/vnd.openxmlformats-officedocument.presentationml.tags+xml"/>
  <Override PartName="/ppt/tags/tag7.xml" ContentType="application/vnd.openxmlformats-officedocument.presentationml.tags+xml"/>
  <Override PartName="/ppt/tags/tag21.xml" ContentType="application/vnd.openxmlformats-officedocument.presentationml.tags+xml"/>
  <Override PartName="/ppt/tags/tag23.xml" ContentType="application/vnd.openxmlformats-officedocument.presentationml.tag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8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4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0"/>
  </p:notesMasterIdLst>
  <p:sldIdLst>
    <p:sldId id="1231" r:id="rId2"/>
    <p:sldId id="1201" r:id="rId3"/>
    <p:sldId id="1203" r:id="rId4"/>
    <p:sldId id="1204" r:id="rId5"/>
    <p:sldId id="1205" r:id="rId6"/>
    <p:sldId id="1206" r:id="rId7"/>
    <p:sldId id="1207" r:id="rId8"/>
    <p:sldId id="1208" r:id="rId9"/>
    <p:sldId id="1209" r:id="rId10"/>
    <p:sldId id="1210" r:id="rId11"/>
    <p:sldId id="1211" r:id="rId12"/>
    <p:sldId id="1212" r:id="rId13"/>
    <p:sldId id="1213" r:id="rId14"/>
    <p:sldId id="1215" r:id="rId15"/>
    <p:sldId id="1216" r:id="rId16"/>
    <p:sldId id="1218" r:id="rId17"/>
    <p:sldId id="1219" r:id="rId18"/>
    <p:sldId id="1220" r:id="rId19"/>
    <p:sldId id="1221" r:id="rId20"/>
    <p:sldId id="1222" r:id="rId21"/>
    <p:sldId id="1223" r:id="rId22"/>
    <p:sldId id="1224" r:id="rId23"/>
    <p:sldId id="1225" r:id="rId24"/>
    <p:sldId id="1226" r:id="rId25"/>
    <p:sldId id="1227" r:id="rId26"/>
    <p:sldId id="1228" r:id="rId27"/>
    <p:sldId id="1229" r:id="rId28"/>
    <p:sldId id="1230" r:id="rId29"/>
  </p:sldIdLst>
  <p:sldSz cx="9144000" cy="5143500" type="screen16x9"/>
  <p:notesSz cx="6858000" cy="9144000"/>
  <p:custDataLst>
    <p:tags r:id="rId3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3" clrIdx="4">
    <p:extLst>
      <p:ext uri="{19B8F6BF-5375-455C-9EA6-DF929625EA0E}">
        <p15:presenceInfo xmlns:p15="http://schemas.microsoft.com/office/powerpoint/2012/main" userId="jagibbon" providerId="None"/>
      </p:ext>
    </p:extLst>
  </p:cmAuthor>
  <p:cmAuthor id="5" name="Sneha Alex" initials="SA" lastIdx="20" clrIdx="5">
    <p:extLst>
      <p:ext uri="{19B8F6BF-5375-455C-9EA6-DF929625EA0E}">
        <p15:presenceInfo xmlns:p15="http://schemas.microsoft.com/office/powerpoint/2012/main" userId="S-1-5-21-1801674531-1177238915-682003330-3294822" providerId="AD"/>
      </p:ext>
    </p:extLst>
  </p:cmAuthor>
  <p:cmAuthor id="6" name="Telethia Willis (twillis)" initials="TW(" lastIdx="2" clrIdx="6">
    <p:extLst>
      <p:ext uri="{19B8F6BF-5375-455C-9EA6-DF929625EA0E}">
        <p15:presenceInfo xmlns:p15="http://schemas.microsoft.com/office/powerpoint/2012/main" userId="S::twillis@cisco.com::b3a0f02c-775d-4737-9fd6-3f4e1d55c5e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8585B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3598" autoAdjust="0"/>
  </p:normalViewPr>
  <p:slideViewPr>
    <p:cSldViewPr snapToGrid="0" showGuides="1">
      <p:cViewPr varScale="1">
        <p:scale>
          <a:sx n="71" d="100"/>
          <a:sy n="71" d="100"/>
        </p:scale>
        <p:origin x="1436" y="4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12.2.2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589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8886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069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461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227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12.2.4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the Type of Firewall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6807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12.2.5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Intrusion Prevention and Detection Devices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672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12.2.6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Advantages and Disadvantages of IDS and 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2341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of 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3969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of 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1386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12.2.8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Specialized Security Appliances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12.2.9 – </a:t>
            </a:r>
            <a:r>
              <a:rPr lang="en-US" b="0" i="0" dirty="0">
                <a:solidFill>
                  <a:srgbClr val="056153"/>
                </a:solidFill>
                <a:effectLst/>
                <a:latin typeface="CiscoSans"/>
              </a:rPr>
              <a:t>Check Your Understanding - Compare IDS and IPS Characteristics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7953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5432"/>
            <a:ext cx="5486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Source:</a:t>
            </a:r>
          </a:p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Time</a:t>
            </a:r>
            <a:r>
              <a:rPr lang="en-US" b="1" dirty="0"/>
              <a:t>: </a:t>
            </a:r>
            <a:r>
              <a:rPr lang="en-US" sz="1000" b="0" dirty="0"/>
              <a:t>15 min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In this topic, the leaners will get</a:t>
            </a:r>
            <a:r>
              <a:rPr lang="en-US" sz="1000" baseline="0" dirty="0"/>
              <a:t> a knowledge of the different security services available.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List the important features of ACL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Discuss </a:t>
            </a:r>
            <a:r>
              <a:rPr lang="en-US" sz="1000" dirty="0">
                <a:solidFill>
                  <a:srgbClr val="000000"/>
                </a:solidFill>
              </a:rPr>
              <a:t>Simple Network Management Protocol (SNMP) with the help of an example.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Describe NetFlow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Briefly explain port mirroring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Discuss Syslog servers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Explain NTP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 that the</a:t>
            </a:r>
            <a:r>
              <a: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learners</a:t>
            </a: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complete the “Check Your Understanding 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dentify the Network Security Device or Service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in section 12.3.12.</a:t>
            </a:r>
            <a:endParaRPr lang="en-US" sz="1000" baseline="0" dirty="0">
              <a:solidFill>
                <a:srgbClr val="000000"/>
              </a:solidFill>
            </a:endParaRP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Walk the learners through AAA servers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Describe VPN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100" b="0" dirty="0"/>
              <a:t>ACL, SNMP, NetFlow,</a:t>
            </a:r>
            <a:r>
              <a:rPr lang="en-US" sz="1200" b="0" baseline="0" dirty="0"/>
              <a:t> Port Mirroring, Syslog Server, NTP, AAA, VPN</a:t>
            </a:r>
            <a:endParaRPr lang="en-US" sz="11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55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12.3.2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 Control with ACLs</a:t>
            </a:r>
          </a:p>
        </p:txBody>
      </p:sp>
    </p:spTree>
    <p:extLst>
      <p:ext uri="{BB962C8B-B14F-4D97-AF65-F5344CB8AC3E}">
        <p14:creationId xmlns:p14="http://schemas.microsoft.com/office/powerpoint/2010/main" val="3577620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ACLs: Important Features</a:t>
            </a:r>
          </a:p>
        </p:txBody>
      </p:sp>
    </p:spTree>
    <p:extLst>
      <p:ext uri="{BB962C8B-B14F-4D97-AF65-F5344CB8AC3E}">
        <p14:creationId xmlns:p14="http://schemas.microsoft.com/office/powerpoint/2010/main" val="3813646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12.3.5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SNMP</a:t>
            </a:r>
          </a:p>
        </p:txBody>
      </p:sp>
    </p:spTree>
    <p:extLst>
      <p:ext uri="{BB962C8B-B14F-4D97-AF65-F5344CB8AC3E}">
        <p14:creationId xmlns:p14="http://schemas.microsoft.com/office/powerpoint/2010/main" val="3593817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12.3.6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NetFlow</a:t>
            </a:r>
          </a:p>
        </p:txBody>
      </p:sp>
    </p:spTree>
    <p:extLst>
      <p:ext uri="{BB962C8B-B14F-4D97-AF65-F5344CB8AC3E}">
        <p14:creationId xmlns:p14="http://schemas.microsoft.com/office/powerpoint/2010/main" val="1731575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 Mirroring</a:t>
            </a:r>
          </a:p>
        </p:txBody>
      </p:sp>
    </p:spTree>
    <p:extLst>
      <p:ext uri="{BB962C8B-B14F-4D97-AF65-F5344CB8AC3E}">
        <p14:creationId xmlns:p14="http://schemas.microsoft.com/office/powerpoint/2010/main" val="635195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12.3.8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Syslog Servers</a:t>
            </a:r>
          </a:p>
        </p:txBody>
      </p:sp>
    </p:spTree>
    <p:extLst>
      <p:ext uri="{BB962C8B-B14F-4D97-AF65-F5344CB8AC3E}">
        <p14:creationId xmlns:p14="http://schemas.microsoft.com/office/powerpoint/2010/main" val="1335107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12.3.9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NTP</a:t>
            </a:r>
          </a:p>
        </p:txBody>
      </p:sp>
    </p:spTree>
    <p:extLst>
      <p:ext uri="{BB962C8B-B14F-4D97-AF65-F5344CB8AC3E}">
        <p14:creationId xmlns:p14="http://schemas.microsoft.com/office/powerpoint/2010/main" val="22122470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12.3.10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Servers</a:t>
            </a:r>
          </a:p>
        </p:txBody>
      </p:sp>
    </p:spTree>
    <p:extLst>
      <p:ext uri="{BB962C8B-B14F-4D97-AF65-F5344CB8AC3E}">
        <p14:creationId xmlns:p14="http://schemas.microsoft.com/office/powerpoint/2010/main" val="363265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12.3.10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Servers</a:t>
            </a:r>
          </a:p>
        </p:txBody>
      </p:sp>
    </p:spTree>
    <p:extLst>
      <p:ext uri="{BB962C8B-B14F-4D97-AF65-F5344CB8AC3E}">
        <p14:creationId xmlns:p14="http://schemas.microsoft.com/office/powerpoint/2010/main" val="343332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12.3.11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VPN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12.3.12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the Network Security Device or Service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376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Source:</a:t>
            </a:r>
          </a:p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Time</a:t>
            </a:r>
            <a:r>
              <a:rPr lang="en-US" b="1" dirty="0"/>
              <a:t>: </a:t>
            </a:r>
            <a:r>
              <a:rPr lang="en-US" sz="1000" b="0" dirty="0"/>
              <a:t>5 min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out the summary points mentioned on the slide.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Discuss the same with the participants.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 if they have any questions or doubts. 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end, ask the students to</a:t>
            </a:r>
            <a:r>
              <a:rPr lang="en-US" sz="1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complete </a:t>
            </a: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module quiz.</a:t>
            </a:r>
          </a:p>
          <a:p>
            <a:pPr marL="171450" lvl="0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100" b="0" dirty="0"/>
              <a:t>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211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12.4.1– </a:t>
            </a:r>
            <a:r>
              <a:rPr lang="en-US" dirty="0"/>
              <a:t>What Did I Learn in this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04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12.4.1– </a:t>
            </a:r>
            <a:r>
              <a:rPr lang="en-US" dirty="0"/>
              <a:t>What Did I Learn in this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481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12.4.1– </a:t>
            </a:r>
            <a:r>
              <a:rPr lang="en-US" dirty="0"/>
              <a:t>What Did I Learn in this Module?</a:t>
            </a:r>
          </a:p>
          <a:p>
            <a:r>
              <a:rPr lang="en-GB" dirty="0"/>
              <a:t>12.4.2</a:t>
            </a:r>
            <a:r>
              <a:rPr lang="en-GB" baseline="0" dirty="0"/>
              <a:t> </a:t>
            </a:r>
            <a:r>
              <a:rPr lang="en-GB" dirty="0"/>
              <a:t>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 12: Network Security Infrastructure Quiz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3523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28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3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2020 Cisco and/or its affiliates. All rights reserved.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2020 Cisco and/or its affiliates. All rights reserved.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A2CFF-0199-1499-9FC3-C5D4101985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200" dirty="0"/>
              <a:t>Security Devices</a:t>
            </a:r>
            <a:br>
              <a:rPr lang="en-US" altLang="en-US" dirty="0"/>
            </a:br>
            <a:r>
              <a:rPr lang="en-IN" dirty="0"/>
              <a:t>Intrusion Prevention and Detection Devices</a:t>
            </a:r>
            <a:br>
              <a:rPr lang="en-US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74150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54313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8890" y="798945"/>
            <a:ext cx="4237017" cy="1250919"/>
          </a:xfrm>
        </p:spPr>
        <p:txBody>
          <a:bodyPr/>
          <a:lstStyle/>
          <a:p>
            <a:pPr marL="180975" indent="0">
              <a:buClrTx/>
              <a:buNone/>
            </a:pPr>
            <a:r>
              <a:rPr lang="en-US" sz="1600" dirty="0"/>
              <a:t>A firewall is a system, or group of systems, that enforces an access control policy between networks.</a:t>
            </a:r>
          </a:p>
          <a:p>
            <a:pPr marL="180975" indent="0">
              <a:buClrTx/>
              <a:buNone/>
            </a:pPr>
            <a:r>
              <a:rPr lang="en-US" sz="1600" b="1" dirty="0"/>
              <a:t>Common Firewall Properties</a:t>
            </a:r>
            <a:r>
              <a:rPr lang="en-US" sz="1600" dirty="0"/>
              <a:t>: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US" sz="1600" dirty="0"/>
              <a:t>Resistant to network attacks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US" sz="1600" dirty="0"/>
              <a:t>The only transit point between internal corporate networks and external networks because all traffic flows through the firewall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US" sz="1600" dirty="0"/>
              <a:t>Enforce the access control policy</a:t>
            </a:r>
          </a:p>
          <a:p>
            <a:pPr marL="180975" indent="0">
              <a:buClrTx/>
              <a:buNone/>
            </a:pP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675" y="1326828"/>
            <a:ext cx="4641726" cy="34210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580534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5"/>
            <a:ext cx="4032831" cy="347243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different types of firewalls are:</a:t>
            </a:r>
          </a:p>
          <a:p>
            <a:pPr marL="271463">
              <a:buFont typeface="Arial" panose="020B0604020202020204" pitchFamily="34" charset="0"/>
              <a:buChar char="•"/>
            </a:pPr>
            <a:r>
              <a:rPr lang="en-US" sz="1600" b="1" dirty="0"/>
              <a:t>Packet Filtering (Stateless) Firewall</a:t>
            </a:r>
            <a:endParaRPr lang="en-US" sz="1600" dirty="0"/>
          </a:p>
          <a:p>
            <a:pPr marL="452438">
              <a:buFont typeface="Arial" panose="020B0604020202020204" pitchFamily="34" charset="0"/>
              <a:buChar char="•"/>
            </a:pPr>
            <a:r>
              <a:rPr lang="en-US" sz="1600" dirty="0"/>
              <a:t>Packet Filtering firewalls are part of a router firewall, which permits or denies traffic based on Layer 3 and Layer 4 information. </a:t>
            </a:r>
          </a:p>
          <a:p>
            <a:pPr marL="452438">
              <a:buFont typeface="Arial" panose="020B0604020202020204" pitchFamily="34" charset="0"/>
              <a:buChar char="•"/>
            </a:pPr>
            <a:r>
              <a:rPr lang="en-US" sz="1600" dirty="0"/>
              <a:t>They are stateless firewalls that use a simple policy table look-up that filters traffic based on specific criteria.</a:t>
            </a:r>
          </a:p>
          <a:p>
            <a:pPr marL="180975" indent="0">
              <a:buClrTx/>
              <a:buNone/>
            </a:pPr>
            <a:endParaRPr lang="en-US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" t="6502"/>
          <a:stretch/>
        </p:blipFill>
        <p:spPr bwMode="auto">
          <a:xfrm>
            <a:off x="4204164" y="980845"/>
            <a:ext cx="4755308" cy="333928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195160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853" y="844210"/>
            <a:ext cx="4658804" cy="3691574"/>
          </a:xfrm>
        </p:spPr>
        <p:txBody>
          <a:bodyPr/>
          <a:lstStyle/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Stateful Firewalls</a:t>
            </a:r>
          </a:p>
          <a:p>
            <a:pPr marL="806450" indent="-2730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Stateful firewalls are the most versatile and the most common firewall technologies in use.</a:t>
            </a:r>
          </a:p>
          <a:p>
            <a:pPr marL="806450" indent="-2730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These firewalls provide stateful packet filtering by using connection information maintained in a state table.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657" y="942624"/>
            <a:ext cx="3811508" cy="369121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056536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862316"/>
            <a:ext cx="4395876" cy="3707973"/>
          </a:xfrm>
        </p:spPr>
        <p:txBody>
          <a:bodyPr/>
          <a:lstStyle/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Application gateway firewall (proxy firewall)</a:t>
            </a:r>
          </a:p>
          <a:p>
            <a:pPr marL="712788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Application gateway firewall filters information at Layers 3, 4, 5, and 7 of the OSI reference model.</a:t>
            </a:r>
          </a:p>
          <a:p>
            <a:pPr marL="712788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Most of the firewall control and filtering is done in the software.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41" y="1034930"/>
            <a:ext cx="4138094" cy="32003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823255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6" y="798945"/>
            <a:ext cx="4197834" cy="351050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Next-generation firewalls (NGFW)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IN" sz="1600" dirty="0"/>
              <a:t>NGFW go beyond stateful firewalls by providing: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Integrated intrusion prevention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 awareness and control to see and block risky apps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Upgrade paths to include future information feeds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Techniques to address evolving security threats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6332" t="14654" r="5651" b="16630"/>
          <a:stretch/>
        </p:blipFill>
        <p:spPr>
          <a:xfrm>
            <a:off x="4341900" y="1101821"/>
            <a:ext cx="4684804" cy="29398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91761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5"/>
            <a:ext cx="8759304" cy="1808453"/>
          </a:xfrm>
        </p:spPr>
        <p:txBody>
          <a:bodyPr/>
          <a:lstStyle/>
          <a:p>
            <a:pPr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Other methods of implementing firewalls include: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Host-based (server and personal) firewall</a:t>
            </a:r>
            <a:r>
              <a:rPr lang="en-US" sz="1600" dirty="0"/>
              <a:t> - A PC or server with firewall software running on it.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Transparent firewall</a:t>
            </a:r>
            <a:r>
              <a:rPr lang="en-US" sz="1600" dirty="0"/>
              <a:t> - Filters IP traffic between a pair of bridged interfaces.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Hybrid firewall</a:t>
            </a:r>
            <a:r>
              <a:rPr lang="en-US" sz="1600" dirty="0"/>
              <a:t> - A combination of various firewall types.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57387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18" y="40719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Intrusion Prevention and Detection Devices</a:t>
            </a:r>
            <a:endParaRPr lang="en-US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8"/>
          <a:stretch/>
        </p:blipFill>
        <p:spPr bwMode="auto">
          <a:xfrm>
            <a:off x="3868094" y="904603"/>
            <a:ext cx="5047284" cy="381940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44064" y="767949"/>
            <a:ext cx="3724029" cy="1250919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A networking architecture paradigm shift is required to defend against fast-moving and evolving attacks. This </a:t>
            </a:r>
            <a:r>
              <a:rPr lang="en-US" sz="1600" dirty="0"/>
              <a:t>must include cost effective and prevention systems such as:</a:t>
            </a:r>
          </a:p>
          <a:p>
            <a:pPr marL="452438" indent="-2603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Intrusion Detection Systems (IDS) </a:t>
            </a:r>
          </a:p>
          <a:p>
            <a:pPr marL="452438" indent="-2603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Intrusion Prevention Systems (IPS)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network architecture integrates these solutions into the entry and exit points of the network.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The figure shows how an IPS device handles malicious traffic.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75355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US" dirty="0"/>
              <a:t>Advantages and Disadvantages of IDS and IPS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71786"/>
            <a:ext cx="7995101" cy="4671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table lists the advantages and disadvantages of IDS and IPS: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01175"/>
              </p:ext>
            </p:extLst>
          </p:nvPr>
        </p:nvGraphicFramePr>
        <p:xfrm>
          <a:off x="289710" y="1160481"/>
          <a:ext cx="8718487" cy="226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241">
                <a:tc>
                  <a:txBody>
                    <a:bodyPr/>
                    <a:lstStyle/>
                    <a:p>
                      <a:r>
                        <a:rPr lang="en-IN" dirty="0"/>
                        <a:t>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Impact on network (latency, jitter)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Network impact if there is a sensor failure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network impact if there is sensor overload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action cannot stop trigger packets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Correct tuning required for response actions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vulnerable to network security evasion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Stops trigger packets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Can use stream normalization techniques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Sensor issues might affect network traffic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Sensor overloading impacts the network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Some impact on network (latency, jitter)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96464" y="3468214"/>
            <a:ext cx="8720787" cy="46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IN" sz="1600" b="1" dirty="0"/>
              <a:t>Deployment Consideration</a:t>
            </a:r>
            <a:r>
              <a:rPr lang="en-IN" sz="1600" dirty="0"/>
              <a:t>:</a:t>
            </a:r>
          </a:p>
          <a:p>
            <a:pPr marL="2714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IPS and IDS technologies can complement each other.</a:t>
            </a:r>
          </a:p>
          <a:p>
            <a:pPr marL="2714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Deciding which implementation to use is based on the security goals of the organization as stated in their network security policy.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22178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Types of IPS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5"/>
            <a:ext cx="8918455" cy="4671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There are two primary kinds of IPS : </a:t>
            </a:r>
          </a:p>
          <a:p>
            <a:pPr lvl="1"/>
            <a:r>
              <a:rPr lang="en-US" sz="1600" dirty="0"/>
              <a:t>Host-based IPS </a:t>
            </a:r>
          </a:p>
          <a:p>
            <a:pPr lvl="1"/>
            <a:r>
              <a:rPr lang="en-US" sz="1600" dirty="0"/>
              <a:t>Network-based 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Host-based IPS (HIPS)</a:t>
            </a:r>
          </a:p>
          <a:p>
            <a:pPr marL="180975" indent="0">
              <a:buNone/>
            </a:pPr>
            <a:r>
              <a:rPr lang="en-US" sz="1600" dirty="0"/>
              <a:t>HIPS is a software installed on a host to monitor and analyze suspicious activity.</a:t>
            </a:r>
          </a:p>
          <a:p>
            <a:pPr marL="0" indent="0">
              <a:buNone/>
            </a:pPr>
            <a:r>
              <a:rPr lang="en-US" sz="1600" dirty="0"/>
              <a:t>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696171"/>
              </p:ext>
            </p:extLst>
          </p:nvPr>
        </p:nvGraphicFramePr>
        <p:xfrm>
          <a:off x="434567" y="2693984"/>
          <a:ext cx="8320134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6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protection specific to a host operating system</a:t>
                      </a:r>
                    </a:p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operating system and application level protection</a:t>
                      </a:r>
                    </a:p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Protects the host after the message is decrypted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 system dependent</a:t>
                      </a:r>
                    </a:p>
                    <a:p>
                      <a:pPr marL="285750" indent="-285750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Must be installed on all hosts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0212388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Types of IPS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5"/>
            <a:ext cx="3757979" cy="29899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Network-based IPS</a:t>
            </a:r>
            <a:r>
              <a:rPr lang="en-US" sz="1600" dirty="0"/>
              <a:t> </a:t>
            </a:r>
          </a:p>
          <a:p>
            <a:pPr marL="557213" indent="-285750">
              <a:buFont typeface="Arial" panose="020B0604020202020204" pitchFamily="34" charset="0"/>
              <a:buChar char="•"/>
            </a:pPr>
            <a:r>
              <a:rPr lang="en-US" sz="1600" dirty="0"/>
              <a:t>Network-based IPS are Implemented using a dedicated or non-dedicated IPS device. </a:t>
            </a:r>
          </a:p>
          <a:p>
            <a:pPr marL="557213" indent="-285750">
              <a:buFont typeface="Arial" panose="020B0604020202020204" pitchFamily="34" charset="0"/>
              <a:buChar char="•"/>
            </a:pPr>
            <a:r>
              <a:rPr lang="en-IN" sz="1600" dirty="0"/>
              <a:t>Host-based IDS/IPS solutions are integrated with a network-based IPS implementation to ensure a robust security architecture.</a:t>
            </a:r>
            <a:endParaRPr lang="en-US" sz="1600" dirty="0"/>
          </a:p>
          <a:p>
            <a:pPr marL="557213" indent="-285750">
              <a:buFont typeface="Arial" panose="020B0604020202020204" pitchFamily="34" charset="0"/>
              <a:buChar char="•"/>
            </a:pPr>
            <a:r>
              <a:rPr lang="en-US" sz="1600" dirty="0"/>
              <a:t>Sensors detect malicious and unauthorized activity in real time and can take action when required.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" t="3249" r="5002" b="4573"/>
          <a:stretch/>
        </p:blipFill>
        <p:spPr>
          <a:xfrm>
            <a:off x="3828422" y="1125416"/>
            <a:ext cx="5112000" cy="294474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506667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Specialized Security Appliances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2170" y="798945"/>
            <a:ext cx="8186020" cy="13815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Few examples of specialized security appliances.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83853"/>
              </p:ext>
            </p:extLst>
          </p:nvPr>
        </p:nvGraphicFramePr>
        <p:xfrm>
          <a:off x="235394" y="1182555"/>
          <a:ext cx="8772803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Cisco Advanced Malware Protection (</a:t>
                      </a:r>
                      <a:r>
                        <a:rPr lang="en-US" sz="1400" b="1" dirty="0"/>
                        <a:t>AMP)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Cisco Web Security Appliance (WSA)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Cisco Email Security Appliance (ESA)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enterprise-class advanced malware analysis and protection solution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secure web gateway that combines leading protections to help organizations address the growing challenges of securing and controlling web traffic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ESA/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 Cloud Email Security </a:t>
                      </a:r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elps to mitigate</a:t>
                      </a:r>
                      <a:r>
                        <a:rPr lang="en-IN" baseline="0" dirty="0">
                          <a:solidFill>
                            <a:srgbClr val="58585B"/>
                          </a:solidFill>
                        </a:rPr>
                        <a:t> </a:t>
                      </a:r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email-based threats</a:t>
                      </a:r>
                      <a:r>
                        <a:rPr lang="en-IN" sz="1400" b="0" i="0" kern="1200" baseline="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the ESA defends </a:t>
                      </a:r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mission-critical email systems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provides comprehensive malware protection for organizations before, during, and after an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Protects the network by automatically blocking risky sites and testing unknown sites before allowing users to access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Constantly updated by real-time feeds from Cisco Talos, which detects and correlates threats using a worldwide database monitoring system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58585B"/>
                          </a:solidFill>
                        </a:rPr>
                        <a:t>Features</a:t>
                      </a:r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:</a:t>
                      </a:r>
                      <a:r>
                        <a:rPr lang="en-IN" baseline="0" dirty="0">
                          <a:solidFill>
                            <a:srgbClr val="58585B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Global threat intelligence, Spam blocking, Advanced Malware Protection, Outbound Message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7516268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12.3 Security Services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96484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Traffic Control with ACLs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1641" y="798946"/>
            <a:ext cx="8918454" cy="658066"/>
          </a:xfrm>
        </p:spPr>
        <p:txBody>
          <a:bodyPr/>
          <a:lstStyle/>
          <a:p>
            <a:pPr marL="271463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An Access Control List (ACL) is a series of commands that control whether a device forwards or drops packets based on information found in the packet header. 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72439" y="1367091"/>
            <a:ext cx="439091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463" indent="-169863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When configured, ACLs perform the following tasks: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Limit network traffic to increase network performance.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traffic flow control. 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basic level of security for network access. 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Filter traffic based on traffic type.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Screen hosts to permit or deny access to network services.</a:t>
            </a:r>
          </a:p>
          <a:p>
            <a:endParaRPr lang="en-IN" sz="160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t="4209" r="6142" b="5270"/>
          <a:stretch/>
        </p:blipFill>
        <p:spPr>
          <a:xfrm>
            <a:off x="4805973" y="1437219"/>
            <a:ext cx="4076170" cy="2809424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1"/>
          <p:cNvSpPr/>
          <p:nvPr/>
        </p:nvSpPr>
        <p:spPr>
          <a:xfrm>
            <a:off x="4805973" y="4329799"/>
            <a:ext cx="4076170" cy="35308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Sample Topology with ACLs applied to routers R1, R2, and R3.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82409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ACLs: Important Features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6"/>
            <a:ext cx="8927508" cy="3664412"/>
          </a:xfrm>
        </p:spPr>
        <p:txBody>
          <a:bodyPr/>
          <a:lstStyle/>
          <a:p>
            <a:pPr marL="101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The two types of Cisco IPv4 ACLs are:</a:t>
            </a:r>
          </a:p>
          <a:p>
            <a:pPr marL="4508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Standard ACL </a:t>
            </a:r>
            <a:r>
              <a:rPr lang="en-US" sz="1600" dirty="0"/>
              <a:t>- Used to permit or deny traffic only from source IPv4 addresses. </a:t>
            </a:r>
          </a:p>
          <a:p>
            <a:pPr marL="4508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Extended ACL </a:t>
            </a:r>
            <a:r>
              <a:rPr lang="en-US" sz="1600" dirty="0"/>
              <a:t>- </a:t>
            </a:r>
            <a:r>
              <a:rPr lang="en-IN" sz="1600" dirty="0"/>
              <a:t>Filters IPv4 packets based on several attributes that include: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Protocol type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Source IPv4 address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Destination IPv4 address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Source TCP or UDP ports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Destination TCP or UDP ports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Optional protocol type information for finer control</a:t>
            </a:r>
          </a:p>
          <a:p>
            <a:pPr marL="3873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Standard and extended ACLs can be created using either a number or a name to identify the ACL and its list of statements.</a:t>
            </a:r>
          </a:p>
          <a:p>
            <a:pPr marL="3873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38628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SNMP</a:t>
            </a:r>
            <a:endParaRPr lang="en-US" altLang="en-US" dirty="0"/>
          </a:p>
        </p:txBody>
      </p:sp>
      <p:sp>
        <p:nvSpPr>
          <p:cNvPr id="4" name="Content Placeholder 1"/>
          <p:cNvSpPr/>
          <p:nvPr/>
        </p:nvSpPr>
        <p:spPr>
          <a:xfrm>
            <a:off x="226340" y="751437"/>
            <a:ext cx="8857502" cy="6971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Simple Network Management Protocol (SNMP) is an application layer protocol that provides a message format for communication between managers and agents.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35010" y="1394235"/>
            <a:ext cx="5659207" cy="1792585"/>
          </a:xfrm>
        </p:spPr>
        <p:txBody>
          <a:bodyPr/>
          <a:lstStyle/>
          <a:p>
            <a:pPr marL="2714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It allows network administrators to perform the following: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Manage end devices such as servers, workstations, routers, switches, and security appliances, on an IP network.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Monitor and manage network performance.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Find and solve network problems.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Plan for network growth.</a:t>
            </a:r>
          </a:p>
          <a:p>
            <a:pPr marL="271463" indent="-180975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SNMP system consists of two elements: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SNMP manager</a:t>
            </a:r>
            <a:r>
              <a:rPr lang="en-US" sz="1600" dirty="0"/>
              <a:t>: Runs SNMP management software.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SNMP agents</a:t>
            </a:r>
            <a:r>
              <a:rPr lang="en-US" sz="1600" dirty="0"/>
              <a:t>: Nodes being monitored and managed.</a:t>
            </a:r>
          </a:p>
          <a:p>
            <a:pPr marL="90488" indent="3365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3000" r="22699" b="4246"/>
          <a:stretch/>
        </p:blipFill>
        <p:spPr>
          <a:xfrm>
            <a:off x="5600172" y="1516278"/>
            <a:ext cx="3455158" cy="2767744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180502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NetFlow</a:t>
            </a:r>
            <a:endParaRPr lang="en-US" altLang="en-US" dirty="0"/>
          </a:p>
        </p:txBody>
      </p:sp>
      <p:sp>
        <p:nvSpPr>
          <p:cNvPr id="5" name="Content Placeholder 1"/>
          <p:cNvSpPr txBox="1"/>
          <p:nvPr/>
        </p:nvSpPr>
        <p:spPr>
          <a:xfrm>
            <a:off x="171224" y="739444"/>
            <a:ext cx="8710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NetFlow is a Cisco IOS technology that provides statistics on packets flowing through a Cisco router or multilayer switch.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89325" y="1330859"/>
            <a:ext cx="4235324" cy="3250194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NetFlow provides data to enable: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network and security monitoring,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network planning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traffic analysis to include identification of network bottlenecks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IP accounting for billing purposes. 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NetFlow can monitor application connection, tracking byte and packet counts for that individual application flow. 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It then pushes the statistics over to an external server called a NetFlow collector.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5" t="11569" r="7461" b="8162"/>
          <a:stretch/>
        </p:blipFill>
        <p:spPr>
          <a:xfrm>
            <a:off x="4379385" y="1524121"/>
            <a:ext cx="4674689" cy="2242159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4" name="Content Placeholder 3"/>
          <p:cNvSpPr/>
          <p:nvPr/>
        </p:nvSpPr>
        <p:spPr>
          <a:xfrm>
            <a:off x="4424649" y="3702909"/>
            <a:ext cx="4674689" cy="5703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PC 1 connects to PC 2 using HTTPS</a:t>
            </a:r>
            <a:endParaRPr lang="en-IN" sz="16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77778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Port Mirroring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6"/>
            <a:ext cx="8592530" cy="55002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Port mirroring is a feature that allows a switch to make duplicate copies of traffic passing through a switch, and then sending it out a port with a network monitor attached.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5438" y="1442233"/>
            <a:ext cx="6696000" cy="29917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Content Placeholder 3"/>
          <p:cNvSpPr txBox="1"/>
          <p:nvPr/>
        </p:nvSpPr>
        <p:spPr>
          <a:xfrm>
            <a:off x="1202599" y="4407191"/>
            <a:ext cx="6774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Traffic Sniffing Using a Switch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53991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Syslog Servers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0276" y="780839"/>
            <a:ext cx="4210655" cy="3791161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The most common method of accessing system messages is to use a protocol called syslog.</a:t>
            </a:r>
            <a:endParaRPr lang="en-US" sz="1600" dirty="0"/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Syslog protocol allows networking devices to send their system messages across the network to syslog servers.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It provides three primary functions:</a:t>
            </a:r>
          </a:p>
          <a:p>
            <a:pPr marL="3619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ability to gather logging information for monitoring and troubleshooting</a:t>
            </a:r>
          </a:p>
          <a:p>
            <a:pPr marL="3619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ability to select the type of logging information that is captured</a:t>
            </a:r>
          </a:p>
          <a:p>
            <a:pPr marL="3619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ability to specify the destination of captured syslog messages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9" t="7409" r="13903" b="4009"/>
          <a:stretch/>
        </p:blipFill>
        <p:spPr>
          <a:xfrm>
            <a:off x="4384964" y="1143000"/>
            <a:ext cx="4536000" cy="302707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Content Placeholder 4"/>
          <p:cNvSpPr txBox="1"/>
          <p:nvPr/>
        </p:nvSpPr>
        <p:spPr>
          <a:xfrm>
            <a:off x="4405443" y="4165490"/>
            <a:ext cx="4506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Syslog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276762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NTP</a:t>
            </a:r>
            <a:endParaRPr lang="en-US" altLang="en-US" dirty="0"/>
          </a:p>
        </p:txBody>
      </p:sp>
      <p:sp>
        <p:nvSpPr>
          <p:cNvPr id="4" name="Content Placeholder 1"/>
          <p:cNvSpPr txBox="1"/>
          <p:nvPr/>
        </p:nvSpPr>
        <p:spPr>
          <a:xfrm>
            <a:off x="181072" y="695889"/>
            <a:ext cx="8890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It is important to synchronize the time across all devices on the network. The date and time settings on a network device can be set using one of two methods: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71645" y="1218803"/>
            <a:ext cx="5383758" cy="613395"/>
          </a:xfrm>
        </p:spPr>
        <p:txBody>
          <a:bodyPr/>
          <a:lstStyle/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Manual configuration of the date and time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Configuring the Network Time Protocol (NTP)</a:t>
            </a:r>
          </a:p>
          <a:p>
            <a:pPr marL="27146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NTP networks use a hierarchical system of time sources, where each level in this system is called a stratum. </a:t>
            </a:r>
            <a:r>
              <a:rPr lang="en-IN" sz="1600" dirty="0"/>
              <a:t>NTP servers are arranged in three levels known as strata: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Stratum 0</a:t>
            </a:r>
            <a:r>
              <a:rPr lang="en-IN" sz="1600" dirty="0"/>
              <a:t>: An NTP network gets the time from authoritative time sources.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Stratum 1</a:t>
            </a:r>
            <a:r>
              <a:rPr lang="en-IN" sz="1600" dirty="0"/>
              <a:t>: Devices are directly connected to the authoritative time sources. </a:t>
            </a:r>
            <a:r>
              <a:rPr lang="en-US" sz="1600" dirty="0"/>
              <a:t> 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Stratum 2 and lower strata</a:t>
            </a:r>
            <a:r>
              <a:rPr lang="en-US" sz="1600" dirty="0"/>
              <a:t>: </a:t>
            </a:r>
            <a:r>
              <a:rPr lang="en-IN" sz="1600" dirty="0"/>
              <a:t>Stratum 2 devices, such as NTP clients, synchronize their time using the NTP packets from stratum 1 servers. </a:t>
            </a:r>
            <a:endParaRPr lang="en-US" sz="1600" dirty="0"/>
          </a:p>
          <a:p>
            <a:pPr marL="27146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5" t="2823" r="10800" b="4878"/>
          <a:stretch/>
        </p:blipFill>
        <p:spPr>
          <a:xfrm>
            <a:off x="5122718" y="1280664"/>
            <a:ext cx="3780000" cy="29972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6"/>
          <p:cNvSpPr txBox="1"/>
          <p:nvPr/>
        </p:nvSpPr>
        <p:spPr>
          <a:xfrm>
            <a:off x="5351085" y="4299517"/>
            <a:ext cx="3644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NTP Stratum Levels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625084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AAA Servers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6"/>
            <a:ext cx="8422993" cy="65806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below table lists the three independent security functions provided by the AAA architectural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23644"/>
              </p:ext>
            </p:extLst>
          </p:nvPr>
        </p:nvGraphicFramePr>
        <p:xfrm>
          <a:off x="224724" y="1444453"/>
          <a:ext cx="8826285" cy="293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60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IN" b="0" dirty="0">
                          <a:effectLst/>
                        </a:rPr>
                        <a:t>Authentication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Users and administrators must prove that they are who they say they are.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Authentication can be 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b="0" dirty="0">
                          <a:effectLst/>
                        </a:rPr>
                        <a:t>stablished using username and password combinations, challenge and response questions, token cards, and other methods.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AAA authentication provides a centralized way to control access to the network.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IN" b="0" dirty="0">
                          <a:effectLst/>
                        </a:rPr>
                        <a:t>Authorization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the user is authenticated, authorization services determine which resources the user can access and which operations the user is allowed to perform.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example is “User ‘student’ can access host serverXYZ using SSH only.”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IN" b="0" dirty="0">
                          <a:effectLst/>
                        </a:rPr>
                        <a:t>Accounting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Accounting records what the user does, including what is accessed, the amount of time the resource is accessed, and any changes that were made.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Accounting keeps track of how network resources are used.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example is "User ‘student’ accessed host serverXYZ using SSH for 15 minutes."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556777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AAA Servers (Contd.)</a:t>
            </a:r>
            <a:endParaRPr lang="en-US" alt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167314" y="729236"/>
            <a:ext cx="9178168" cy="65806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below table lists the difference between Terminal Access Controller Access-Control System Plus (TACACS+) and Remote Authentication Dial-In User Service (RADIUS) protocols.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436062"/>
              </p:ext>
            </p:extLst>
          </p:nvPr>
        </p:nvGraphicFramePr>
        <p:xfrm>
          <a:off x="224725" y="1345766"/>
          <a:ext cx="88650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TACACS+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RADIUS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05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Functionality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Separates AAA according to the AAA architecture,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Combines authentication and authorization but separates accounting,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30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Mostly Cisco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Open/RFC 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796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Transport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UDP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200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Protocol CHAP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Bidirectional challenge and response as used in Challenge Handshake Authentication Protocol (CHAP)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Unidirectional challenge and response from the RADIUS security server to the RADIUS client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83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Confidentiality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Entire packet encrypted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Password encrypted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754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Provides authorization of router commands on per-user or per-group basis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No option to authorize router commands on a per-user or per-group basis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83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Accounting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Extensive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5957850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VPN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6"/>
            <a:ext cx="4572660" cy="413726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 VPN is a private network that is created over a public network (usually the internet).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 VPN uses virtual connections routed through the Internet from the organization to the remote site.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A VPN is a communications environment in which access is strictly controlled to permit peer connections within a defined community of interest.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Confidentiality is achieved by encrypting the traffic within the VPN.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 short, VPN connects two endpoints over a public network, to form a logical connection which can be made at Layer 2 or Layer 3.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510733" y="946241"/>
            <a:ext cx="4500000" cy="313543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Content Placeholder 8"/>
          <p:cNvSpPr txBox="1"/>
          <p:nvPr/>
        </p:nvSpPr>
        <p:spPr>
          <a:xfrm>
            <a:off x="4644032" y="4122491"/>
            <a:ext cx="430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Virtual Private Network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1123870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4" y="915409"/>
            <a:ext cx="8599985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12.4 Network Security 	Infrastructure 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4130291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 Summary</a:t>
            </a:r>
            <a:br>
              <a:rPr lang="en-US" altLang="en-US" dirty="0"/>
            </a:br>
            <a:r>
              <a:rPr lang="en-IN" altLang="en-US" dirty="0"/>
              <a:t>What Did I Learn in this Module?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0120" y="801475"/>
            <a:ext cx="8782493" cy="3887483"/>
          </a:xfrm>
        </p:spPr>
        <p:txBody>
          <a:bodyPr/>
          <a:lstStyle/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Networks are typically represented as physical and logical topologies.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A physical topology represents physical connections and how end devices are connected whereas a logical topology refers to the standards and protocols that devices use to communicate.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The two most common types of network infrastructures are LANs and WANs.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The campus wired LAN design consists of hierarchical layers (access, distribution, core) with each layer assigned specific functions.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Common security architectures define the boundaries of traffic entering and leaving the network.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The different types of firewalls are Packet filtering firewalls, stateful inspection firewall, Application gateway firewalls, Next-generation firewalls.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0101980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 Summary</a:t>
            </a:r>
            <a:br>
              <a:rPr lang="en-US" altLang="en-US" dirty="0"/>
            </a:br>
            <a:r>
              <a:rPr lang="en-IN" altLang="en-US" dirty="0"/>
              <a:t>What Did I Learn in this Module? (Contd.)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0120" y="801475"/>
            <a:ext cx="8904138" cy="3887483"/>
          </a:xfrm>
        </p:spPr>
        <p:txBody>
          <a:bodyPr/>
          <a:lstStyle/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Intrusion prevention systems (IPS) and intrusion detection systems (IDS) are used to detect potential security risks and alert/stop unsafe traffic.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Specialized security appliances are available including Cisco Advanced Malware Protection (AMP), Cisco Web Security Appliance (WSA), and Cisco Email Security Appliance (WSA).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ACLs are a series of statements that control whether a device forwards or drops packets based on information found in the packet header.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SNMP enables network administrators to monitor and manage network performance, find and solve network problems, and plan for network growth.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NetFlow provides statistics on packets that are flowing through a Cisco router or multilayer switch.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Port mirroring is a feature that allows a switch to make duplicate copies of traffic that is passing through the switch, and then send it out a port that has a network monitor attached.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76469698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 Summary</a:t>
            </a:r>
            <a:br>
              <a:rPr lang="en-US" altLang="en-US" dirty="0"/>
            </a:br>
            <a:r>
              <a:rPr lang="en-IN" altLang="en-US" dirty="0"/>
              <a:t>What Did I Learn in this Module? (Contd.)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0120" y="801475"/>
            <a:ext cx="8888820" cy="3887483"/>
          </a:xfrm>
        </p:spPr>
        <p:txBody>
          <a:bodyPr/>
          <a:lstStyle/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Syslog servers compile and provide access to the system messages generated by networking devices.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NTP synchronizes the system time across all devices on the network to ensure accurate and consistent timestamping of system messages.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AAA is a framework for configuring user authentication, authorization, and accounting services. It typically uses a TACACS+ or RADIUS server for this purpose.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VPNs are private networks that are created between two endpoints across a public network.</a:t>
            </a:r>
          </a:p>
        </p:txBody>
      </p:sp>
    </p:spTree>
    <p:extLst>
      <p:ext uri="{BB962C8B-B14F-4D97-AF65-F5344CB8AC3E}">
        <p14:creationId xmlns:p14="http://schemas.microsoft.com/office/powerpoint/2010/main" val="405180128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12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44463" y="798513"/>
          <a:ext cx="8853486" cy="3718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863048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3039276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+mn-lt"/>
                        </a:rPr>
                        <a:t>Topology Diagram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+mn-lt"/>
                        </a:rPr>
                        <a:t>Demilitarized Zone (DMZ)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+mn-lt"/>
                        </a:rPr>
                        <a:t>Zone-based Policy Firewalls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 (ZPF)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Packet Filtering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Stateful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Application gateway Firewall (Proxy Firewall)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Next- Generation Firewall(NGFW)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Host based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Transparent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Hybrid Firewall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Intrusion Detection Systems(IDS)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Intrusion</a:t>
                      </a: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Prevention Systems(IPS)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Advanced Malware Protection(AMP)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Web Security Appliance (WSA)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Cloud Web Security (CWS)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Email Security Appliance (ESA) </a:t>
                      </a:r>
                    </a:p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Access Control List (ACL)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Standard ACL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Extended ACL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Simple Network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Management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Protocol (SNMP)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NetFlow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Port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 Mirroring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Syslog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Network Time Protocol (NTP)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Stratum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TACACS+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RADIUS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VPN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970014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7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8132770B828A48BD3BF54E2C55D03E" ma:contentTypeVersion="7" ma:contentTypeDescription="Create a new document." ma:contentTypeScope="" ma:versionID="04154994eeaaabf0b7fe50a1574811d8">
  <xsd:schema xmlns:xsd="http://www.w3.org/2001/XMLSchema" xmlns:xs="http://www.w3.org/2001/XMLSchema" xmlns:p="http://schemas.microsoft.com/office/2006/metadata/properties" xmlns:ns2="ecefae53-4da3-49df-9688-603b869a07b5" targetNamespace="http://schemas.microsoft.com/office/2006/metadata/properties" ma:root="true" ma:fieldsID="f1c8f16f884b5803e8bc872a6f5d9c6c" ns2:_="">
    <xsd:import namespace="ecefae53-4da3-49df-9688-603b869a07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efae53-4da3-49df-9688-603b869a07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F9F96C-9C23-4C81-870C-D89478D1830A}"/>
</file>

<file path=customXml/itemProps2.xml><?xml version="1.0" encoding="utf-8"?>
<ds:datastoreItem xmlns:ds="http://schemas.openxmlformats.org/officeDocument/2006/customXml" ds:itemID="{CD996FE0-F78F-4FAB-8ED3-3E5F926AAD51}"/>
</file>

<file path=customXml/itemProps3.xml><?xml version="1.0" encoding="utf-8"?>
<ds:datastoreItem xmlns:ds="http://schemas.openxmlformats.org/officeDocument/2006/customXml" ds:itemID="{A4BA36DD-80E7-4E78-92C7-7E02DDC37227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32913</TotalTime>
  <Words>2998</Words>
  <Application>Microsoft Office PowerPoint</Application>
  <PresentationFormat>On-screen Show (16:9)</PresentationFormat>
  <Paragraphs>385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CiscoSans</vt:lpstr>
      <vt:lpstr>CiscoSans ExtraLight</vt:lpstr>
      <vt:lpstr>Wingdings</vt:lpstr>
      <vt:lpstr>Default Theme</vt:lpstr>
      <vt:lpstr>Security Devices Intrusion Prevention and Detection Devices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12.3 Security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12.4 Network Security  Infrastructure Summary</vt:lpstr>
      <vt:lpstr>PowerPoint Presentation</vt:lpstr>
      <vt:lpstr>PowerPoint Presentation</vt:lpstr>
      <vt:lpstr>PowerPoint Presentation</vt:lpstr>
      <vt:lpstr>Module 12 New Terms and Commands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Dr. Abdallah Dabboussi</cp:lastModifiedBy>
  <cp:revision>1376</cp:revision>
  <dcterms:created xsi:type="dcterms:W3CDTF">2016-08-22T22:27:36Z</dcterms:created>
  <dcterms:modified xsi:type="dcterms:W3CDTF">2026-04-08T12:30:47Z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ContentTypeId">
    <vt:lpwstr>0x0101007F8132770B828A48BD3BF54E2C55D03E</vt:lpwstr>
  </property>
</Properties>
</file>